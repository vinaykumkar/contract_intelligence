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A2C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C5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08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A08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6E6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Parties</c:v>
                  </c:pt>
                  <c:pt idx="1">
                    <c:v>License grant</c:v>
                  </c:pt>
                  <c:pt idx="2">
                    <c:v>Agreement date</c:v>
                  </c:pt>
                  <c:pt idx="3">
                    <c:v>Governing law</c:v>
                  </c:pt>
                  <c:pt idx="4">
                    <c:v>Document name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13.7</c:v>
                </c:pt>
                <c:pt idx="1">
                  <c:v>56.1</c:v>
                </c:pt>
                <c:pt idx="2">
                  <c:v>77.9</c:v>
                </c:pt>
                <c:pt idx="3">
                  <c:v>84.5</c:v>
                </c:pt>
                <c:pt idx="4">
                  <c:v>89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82A2C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A2C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4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37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645920"/>
            <a:ext cx="3566160" cy="3566160"/>
          </a:xfrm>
          <a:prstGeom prst="ellipse">
            <a:avLst/>
          </a:prstGeom>
          <a:solidFill>
            <a:srgbClr val="0D1A1C">
              <a:alpha val="0"/>
            </a:srgbClr>
          </a:solidFill>
          <a:ln w="19050">
            <a:solidFill>
              <a:srgbClr val="2A4A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2148840"/>
            <a:ext cx="2560320" cy="2560320"/>
          </a:xfrm>
          <a:prstGeom prst="ellipse">
            <a:avLst/>
          </a:prstGeom>
          <a:solidFill>
            <a:srgbClr val="0D1A1C">
              <a:alpha val="0"/>
            </a:srgbClr>
          </a:solidFill>
          <a:ln w="12700">
            <a:solidFill>
              <a:srgbClr val="223C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53144" y="3118104"/>
            <a:ext cx="621792" cy="621792"/>
          </a:xfrm>
          <a:prstGeom prst="ellipse">
            <a:avLst/>
          </a:prstGeom>
          <a:solidFill>
            <a:srgbClr val="E9F3F0"/>
          </a:solidFill>
          <a:ln w="12700">
            <a:solidFill>
              <a:srgbClr val="E9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81744" y="1563624"/>
            <a:ext cx="164592" cy="164592"/>
          </a:xfrm>
          <a:prstGeom prst="ellipse">
            <a:avLst/>
          </a:prstGeom>
          <a:solidFill>
            <a:srgbClr val="E4572E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57291" y="3956553"/>
            <a:ext cx="164592" cy="164592"/>
          </a:xfrm>
          <a:prstGeom prst="ellipse">
            <a:avLst/>
          </a:prstGeom>
          <a:solidFill>
            <a:srgbClr val="2FA08D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73284" y="4890897"/>
            <a:ext cx="164592" cy="164592"/>
          </a:xfrm>
          <a:prstGeom prst="ellipse">
            <a:avLst/>
          </a:prstGeom>
          <a:solidFill>
            <a:srgbClr val="2FA08D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72115" y="5102695"/>
            <a:ext cx="164592" cy="164592"/>
          </a:xfrm>
          <a:prstGeom prst="ellipse">
            <a:avLst/>
          </a:prstGeom>
          <a:solidFill>
            <a:srgbClr val="7CC5B7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5825" y="4492846"/>
            <a:ext cx="164592" cy="164592"/>
          </a:xfrm>
          <a:prstGeom prst="ellipse">
            <a:avLst/>
          </a:prstGeom>
          <a:solidFill>
            <a:srgbClr val="7CC5B7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98664" y="3346704"/>
            <a:ext cx="164592" cy="164592"/>
          </a:xfrm>
          <a:prstGeom prst="ellipse">
            <a:avLst/>
          </a:prstGeom>
          <a:solidFill>
            <a:srgbClr val="2FA08D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5825" y="2200562"/>
            <a:ext cx="164592" cy="164592"/>
          </a:xfrm>
          <a:prstGeom prst="ellipse">
            <a:avLst/>
          </a:prstGeom>
          <a:solidFill>
            <a:srgbClr val="2FA08D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72115" y="1590713"/>
            <a:ext cx="164592" cy="164592"/>
          </a:xfrm>
          <a:prstGeom prst="ellipse">
            <a:avLst/>
          </a:prstGeom>
          <a:solidFill>
            <a:srgbClr val="7CC5B7"/>
          </a:solidFill>
          <a:ln w="19050">
            <a:solidFill>
              <a:srgbClr val="0D1A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813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" y="18288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ContractIQ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E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Contract Intelligence &amp; Risk Analysis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contract. Get every key clause, the exact evidence it rests on,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 transparent risk score — entirely on your own machine.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1117397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56048"/>
            <a:ext cx="1117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20901" y="4956048"/>
            <a:ext cx="817474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20901" y="4956048"/>
            <a:ext cx="817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84678" y="4956048"/>
            <a:ext cx="1492301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4678" y="4956048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PyTorch · MiniLM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3283" y="4956048"/>
            <a:ext cx="817474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3283" y="4956048"/>
            <a:ext cx="817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 v1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87061" y="4956048"/>
            <a:ext cx="892454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7061" y="4956048"/>
            <a:ext cx="892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25819" y="4956048"/>
            <a:ext cx="742493" cy="384048"/>
          </a:xfrm>
          <a:prstGeom prst="roundRect">
            <a:avLst>
              <a:gd name="adj" fmla="val 47619"/>
            </a:avLst>
          </a:prstGeom>
          <a:solidFill>
            <a:srgbClr val="14262A"/>
          </a:solidFill>
          <a:ln w="9525">
            <a:solidFill>
              <a:srgbClr val="2A4A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5819" y="4956048"/>
            <a:ext cx="7424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6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199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· No cloud · No paid APIs        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81051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&amp; the solution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contract review breaks, and the pipeline that fixes 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327648" y="181051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242048" y="1828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layers, one direction of data flow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32552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71600" y="327355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 dataset, model choice, evidence-accurate extraction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327648" y="32552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242048" y="327355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methodology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fifteen auditable rules behind the 0-100 score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371600" y="471830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API, data model, security &amp; privacy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27648" y="4700016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242048" y="471830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 tests, benchmarks, and a live demo on real files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shown runs 100% locally — the demo at the end uses real files, not slides.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review is slow, manual, and easy to get wrong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470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tokens per contract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108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observed: 78.6k 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88536" y="1700784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470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81144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risk-relevant clause categories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3108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tracked in the CUAD v1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700784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18470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review burden on one reader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clauses buried in boilerplate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178808"/>
            <a:ext cx="146304" cy="146304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416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 clauses are expensive  </a:t>
            </a:r>
            <a:pPr indent="0" marL="0">
              <a:buNone/>
            </a:pPr>
            <a:r>
              <a:rPr lang="en-US" sz="14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 missed auto-renewal, exclusivity or non-compete term binds the business for years.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4928616"/>
            <a:ext cx="146304" cy="146304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79145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review doesn't scale  </a:t>
            </a:r>
            <a:pPr indent="0" marL="0">
              <a:buNone/>
            </a:pPr>
            <a:r>
              <a:rPr lang="en-US" sz="14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Reading every page to find 15 things that matter is hours of expert time per contract.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67842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5412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tools break confidentiality  </a:t>
            </a:r>
            <a:pPr indent="0" marL="0">
              <a:buNone/>
            </a:pPr>
            <a:r>
              <a:rPr lang="en-US" sz="14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Contracts are among the most sensitive documents a company holds; pasting them into web services is a non-starter.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facts: CUAD v1 (510 contracts, 20,910 QA pairs) — project Phase 1 dataset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pipeline: from raw file to defensible analysis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76656" y="312724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· DOCX · TXT,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&amp; sanitized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0545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2880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017520" y="312724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PyMuPDF / python-docx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exact text + offsets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38928" y="182880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0E6E63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58384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358384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358384" y="312724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MiniLM QA model fine-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on CUAD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87184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79792" y="182880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99248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699248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699248" y="312724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transparent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rules, 0–100 + band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8048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20656" y="182880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40112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0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040112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040112" y="312724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Evidence-highlighted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&amp; history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13232" y="5175504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 calls, no API keys — uploads never leave the machine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88536" y="46177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4568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Evidence-linked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544568" y="5175504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finding stores the exact character range it came from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19872" y="461772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legal advice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375904" y="5175504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analysis; results are flagged for professional review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ntractIQ\reports\deck_assets\ui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0A1416"/>
          </a:solidFill>
          <a:ln w="12700">
            <a:solidFill>
              <a:srgbClr val="0A141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1447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workspace  </a:t>
            </a:r>
            <a:pPr indent="0" marL="0">
              <a:buNone/>
            </a:pPr>
            <a:r>
              <a:rPr lang="en-US" sz="130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Risk Orb (67 · HIGH), Clause Intelligence Map, evidence highlighting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engine delivers for every contract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clause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Parties, dates, governing law, termination, non-compete, exclusivity, liability cap, insurance and more — from a 41-type CUAD registry.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88536" y="1755648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evidence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37744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clause maps to precise character offsets; verified at 0 mismatches across 129 checks on real analyses.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755648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37744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0–100 score from 15 readable rules in three bands — deliberately separate from AI confidence.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4206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2153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ingestion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" y="459028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handling of corrupt, encrypted, scanned and oversized files — rejected with clear errors, never fabricated text.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88536" y="3968496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4206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42153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&amp; recovery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44568" y="459028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contract history, duplicate detection (SHA-256), crash recovery and idempotent re-analysis.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19872" y="3968496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4206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42153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or CPU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75904" y="4590288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CUDA detection at startup with automatic CPU fallback — same code, no configuration.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one direction of data flow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359152" cy="1554480"/>
          </a:xfrm>
          <a:prstGeom prst="roundRect">
            <a:avLst>
              <a:gd name="adj" fmla="val 3529"/>
            </a:avLst>
          </a:prstGeom>
          <a:solidFill>
            <a:srgbClr val="E9F3F0"/>
          </a:solidFill>
          <a:ln w="12700">
            <a:solidFill>
              <a:srgbClr val="E9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13969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TypeScript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" y="2487168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7 · Tailwind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Orb · Clause Map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client w/ timeouts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16352" y="2788920"/>
            <a:ext cx="886968" cy="0"/>
          </a:xfrm>
          <a:prstGeom prst="line">
            <a:avLst/>
          </a:prstGeom>
          <a:noFill/>
          <a:ln w="25400">
            <a:solidFill>
              <a:srgbClr val="2FA08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8716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73736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0E6E63"/>
          </a:solidFill>
          <a:ln w="12700">
            <a:solidFill>
              <a:srgbClr val="0E6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86537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(uvicorn)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67912" y="2212848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routes · request IDs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envelope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lifespan + recovery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365760" cy="0"/>
          </a:xfrm>
          <a:prstGeom prst="line">
            <a:avLst/>
          </a:prstGeom>
          <a:noFill/>
          <a:ln w="25400">
            <a:solidFill>
              <a:srgbClr val="2FA0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481328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60934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parser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48272" y="19568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PyMuPDF · python-docx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487168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61518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adapter → MiniLM QA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48272" y="296265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lazy-loaded singleton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493008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6210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48272" y="396849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deterministic rules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26880" y="3904488"/>
            <a:ext cx="594360" cy="0"/>
          </a:xfrm>
          <a:prstGeom prst="line">
            <a:avLst/>
          </a:prstGeom>
          <a:noFill/>
          <a:ln w="25400">
            <a:solidFill>
              <a:srgbClr val="2FA08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21240" y="1481328"/>
            <a:ext cx="1810512" cy="1371600"/>
          </a:xfrm>
          <a:prstGeom prst="roundRect">
            <a:avLst>
              <a:gd name="adj" fmla="val 4000"/>
            </a:avLst>
          </a:prstGeom>
          <a:solidFill>
            <a:srgbClr val="14262A"/>
          </a:solidFill>
          <a:ln w="12700">
            <a:solidFill>
              <a:srgbClr val="1426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16093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Fine-tuned model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085832" y="1956816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ml/models/final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33.4M params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21240" y="3035808"/>
            <a:ext cx="1810512" cy="1280160"/>
          </a:xfrm>
          <a:prstGeom prst="roundRect">
            <a:avLst>
              <a:gd name="adj" fmla="val 4286"/>
            </a:avLst>
          </a:prstGeom>
          <a:solidFill>
            <a:srgbClr val="14262A"/>
          </a:solidFill>
          <a:ln w="12700">
            <a:solidFill>
              <a:srgbClr val="1426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85832" y="31638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085832" y="351129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 2.0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storage/contractiq.db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choices  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text is never logged; every failure maps to a typed error envelope; analysis state survives crashes; the ML layer sits behind a Protocol so models swap without touching the backend.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state changes flow left to right — the UI never writes to the database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·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CUAD v1 — trained on real commercial contracts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contracts, 100+ pages average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commercial agreements across 27 industries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8536" y="1700784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1828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81144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categories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81144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with a curated legal question template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700784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1828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20,910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annotated QA pairs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span-level annotations by contract lawyers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clause type becomes a question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there a non-compete restriction?"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41605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the restriction, or answers: 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818888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18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Cap on Liability?"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48188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the exact cap wording from the text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477256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7725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Renewal Term?"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54772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clause present → confident no-answer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89720" y="3749040"/>
            <a:ext cx="2542032" cy="2395728"/>
          </a:xfrm>
          <a:prstGeom prst="roundRect">
            <a:avLst>
              <a:gd name="adj" fmla="val 2672"/>
            </a:avLst>
          </a:prstGeom>
          <a:solidFill>
            <a:srgbClr val="14262A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18320" y="39319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spc="200" kern="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0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367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contracts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0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(thresholds)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5A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— touched exactly once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The Atticus Project, CUAD v1 (2021); project dataset integrity guarded by SHA-256 checksum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· MODEL CHOICE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enough for a laptop, smart enough for contracts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920240"/>
                <a:gridCol w="3017520"/>
                <a:gridCol w="2953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Candidate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 speed (win/s)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Knows when a clause is absent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MiniLM (SQuAD 2.0)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33.4M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— trained on no-answer data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6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DistilBERT (SQuAD 1.1)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always guesses an answer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737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Rejected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RoBERTa (SQuAD 2.0)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125M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~1.2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737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Rejected: 3.7x compute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  </a:t>
            </a:r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model is ~127 MB on disk and runs on a plain laptop CPU — the privacy promise (“never leaves your machine”) only holds if inference does not need a data-center GPU.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525780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 we accept  </a:t>
            </a:r>
            <a:pPr indent="0" marL="0">
              <a:buNone/>
            </a:pPr>
            <a:r>
              <a:rPr lang="en-US" sz="120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MiniLM trades some accuracy for a 3–4x speed edge — retrieval and windowing win it back, and the same code serves a gaming laptop (seconds per contract) and an office laptop without one.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Benchmark: project phase-3 model benchmark — batch inference on CPU, identical pre-processing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Extractive QA, fine-tuned on legal contracts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formulation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clause type becomes a question (CUAD template) asked over the contract; the model returns the answer span — or 'no answer'.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026664"/>
            <a:ext cx="5394960" cy="0"/>
          </a:xfrm>
          <a:prstGeom prst="line">
            <a:avLst/>
          </a:prstGeom>
          <a:noFill/>
          <a:ln w="9525">
            <a:solidFill>
              <a:srgbClr val="DC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72968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Sliding windows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512-token windows, stride 128, max answer 64 tokens — handles contracts far beyond the model's context.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416552"/>
            <a:ext cx="5394960" cy="0"/>
          </a:xfrm>
          <a:prstGeom prst="line">
            <a:avLst/>
          </a:prstGeom>
          <a:noFill/>
          <a:ln w="9525">
            <a:solidFill>
              <a:srgbClr val="DC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628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model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deepset/minilm-uncased-squad2 — 33.4M params, ~127 MB, no-answer aware; chosen over DistilBERT and RoBERTa on speed-per-accuracy.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330952" cy="2286000"/>
          </a:xfrm>
          <a:prstGeom prst="roundRect">
            <a:avLst>
              <a:gd name="adj" fmla="val 2800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20,420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windows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94192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epoch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94192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16 · lr 3e-5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113264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838 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113264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an RTX 2050 GPU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34564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epoch at batch 16, lr 3e-5, fp16, 1:3 positives-to-negatives — thresholds frozen on the 41-contract dev split before a single test run.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279392"/>
            <a:ext cx="53309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443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— GOLD-ANSWER RECALL @ K=15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7914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79.4%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93408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only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73568" y="4846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94192" y="47914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91.4%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41248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TF-IDF keywords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92640" y="4846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13264" y="47914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131552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title boost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phase3_retrieval_recall.md · phase3_training.md (project reports)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· EXTRACTION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78,000-token contract to exact evidence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78.6k tokens,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 beyond the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57984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91156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7460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37460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1,200 chars,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200-char overlap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91940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0E6E63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71416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TF-IDF ranking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71416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keywords + title boost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6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top-15 blocks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25896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9068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5372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5372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512 tokens, stride 128,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answer 64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9852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93024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39328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MiniLM QA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39328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span per clause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no-answer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93808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26980" y="1874520"/>
            <a:ext cx="1755648" cy="178308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73284" y="20299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73284" y="261518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character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offsets → UI highlight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retrieval first?  </a:t>
            </a:r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every window of a long contract on CPU would dominate the ~80 s budget; ranking first cuts the work — and measured gold-answer recall at K=15 reaches 95.2%.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75488" y="5440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gold answers survive into the search window (was 79.4% with questions alone)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88536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306824" y="5440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clauses use retrieval; 4 high-value clause types scan the full document instead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19872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138160" y="5440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offset mismatches in 129 evidence checks — spans decode back to exact character positions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phase3_retrieval_recall.md · phase8 evidence-offset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honestly on the official CUAD test set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Clause-level F1 — best and worst of 15 (102-contract test set, run once)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52360" y="20116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60.8%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4183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match (EM), overall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52360" y="31821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66.2%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418320" y="3273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F1, overall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52360" y="435254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74.4%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418320" y="444398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no-answer accuracy — knows when a clause is absent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52360" y="5623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Parties is the known weak spot: the answer spans many entities — flagged, not hidden.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phase3_test_evaluation.md — official CUAD test split, frozen thresholds, single run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risk score you can audit line by 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FA0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  </a:t>
            </a:r>
            <a:pPr indent="0" marL="0">
              <a:buNone/>
            </a:pPr>
            <a:r>
              <a:rPr lang="en-US" sz="1500" dirty="0">
                <a:solidFill>
                  <a:srgbClr val="F4EF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0–30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88536" y="173736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C996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2856" y="1737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  </a:t>
            </a:r>
            <a:pPr indent="0" marL="0">
              <a:buNone/>
            </a:pPr>
            <a:r>
              <a:rPr lang="en-US" sz="1500" dirty="0">
                <a:solidFill>
                  <a:srgbClr val="F4EF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31–60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119872" y="173736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17373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  </a:t>
            </a:r>
            <a:pPr indent="0" marL="0">
              <a:buNone/>
            </a:pPr>
            <a:r>
              <a:rPr lang="en-US" sz="1500" dirty="0">
                <a:solidFill>
                  <a:srgbClr val="F4EF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61–100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rules (weight · severity)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NON_COMPETE_PRESENT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EXCLUSIVITY_PRESENT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3950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CAP_ON_LIABILITY_ABSENT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43799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43799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09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AUTO_RENEWAL_LANGUAGE  (regex)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4809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4809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239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TERMINATION_CONVENIENCE_ABSENT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5239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5239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669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AUDIT_RIGHTS_PRESENT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5669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3108960"/>
            <a:ext cx="4553712" cy="3017520"/>
          </a:xfrm>
          <a:prstGeom prst="roundRect">
            <a:avLst>
              <a:gd name="adj" fmla="val 2121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34072" y="331012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Separation of concerns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ML model never assigns risk. It extracts facts; rules score them.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34072" y="4407408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gate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fire only at extraction confidence ≥ 0.5 — below that the finding is marked uncertain and excluded from the score.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Weights and bands are data, not code — configurable in ml/configs/clauses.json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ntractIQ\reports\deck_assets\ui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0A1416"/>
          </a:solidFill>
          <a:ln w="12700">
            <a:solidFill>
              <a:srgbClr val="0A141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1447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dashboard  </a:t>
            </a:r>
            <a:pPr indent="0" marL="0">
              <a:buNone/>
            </a:pPr>
            <a:r>
              <a:rPr lang="en-US" sz="130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portfolio stats, risk constellation, recent activity, live engine status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· LIFECYCLE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request is a small, safe state machine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75488" y="1819656"/>
            <a:ext cx="310896" cy="31089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(type, 20 MB cap) → store as UUID → parse to text → SHA-256 duplicate check → status READY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2752344"/>
            <a:ext cx="310896" cy="31089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715768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→ lazy-load model → extract 15 clauses with offsets → run 15 risk rules → write atomically → COMPLETED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3685032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648456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safely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corrupt / encrypted / scanned files and CUDA out-of-memory all become typed FAILED analyses — never a crashed server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" y="4617720"/>
            <a:ext cx="310896" cy="31089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581144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startup, contracts stuck in ANALYZING from a crash are moved to a safe state automatically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553712" cy="2148840"/>
          </a:xfrm>
          <a:prstGeom prst="roundRect">
            <a:avLst>
              <a:gd name="adj" fmla="val 2979"/>
            </a:avLst>
          </a:prstGeom>
          <a:solidFill>
            <a:srgbClr val="14262A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34072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ERROR IS TYPED — NEVER A RAW TRACEBACK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34072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"error": "OCR_REQUIRED",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"The PDF has no text layer...",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"request_id": "dbb1496526d944b5" 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34072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request_id appears in the X-Request-ID header and in logs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4160520"/>
            <a:ext cx="4553712" cy="1783080"/>
          </a:xfrm>
          <a:prstGeom prst="roundRect">
            <a:avLst>
              <a:gd name="adj" fmla="val 3590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34072" y="4370832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by design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Re-analyzing a contract replaces the previous result atomically — double-clicking Analyze can never corrupt data, and a 409 guards concurrent runs.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small, strict API over four tables</a:t>
            </a:r>
            <a:endParaRPr lang="en-US" sz="3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/api/contracts/upload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 → parse → store (201)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/api/contracts/{id}/analyze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extraction + risk (idempotent)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/api/contracts/{id}/analysis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analysis: clauses, evidence, findings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/api/contracts/{id}/text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 text for evidence highlighting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/api/contracts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· filter · sort · paginate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/api/stats · /api/health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A2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stats · engine + model status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83080"/>
            <a:ext cx="4873752" cy="603504"/>
          </a:xfrm>
          <a:prstGeom prst="roundRect">
            <a:avLst>
              <a:gd name="adj" fmla="val 10606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14032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14032" y="2093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info · status · text hash · raw text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2496312"/>
            <a:ext cx="487375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14032" y="2551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14032" y="2807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 · model state · timings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3209544"/>
            <a:ext cx="4873752" cy="603504"/>
          </a:xfrm>
          <a:prstGeom prst="roundRect">
            <a:avLst>
              <a:gd name="adj" fmla="val 10606"/>
            </a:avLst>
          </a:prstGeom>
          <a:solidFill>
            <a:srgbClr val="E9F3F0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14032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clause_results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14032" y="3520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· span offsets · confidence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0" y="3922776"/>
            <a:ext cx="487375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14032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risk_findings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14032" y="4233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· severity · weight · evidence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STATE MACHINE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486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4592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74520" y="5486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7452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06324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291840" y="5486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48056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09160" y="5486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89788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5486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BED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589520" y="5559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ANALYZING rows are recovered to a safe state on restart.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·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so the contract never leaves the machine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 are untrusted input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+ 20 MB size checks; corrupt, encrypted and scanned files rejected with typed errors — content is never executed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6883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64261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safety by construction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filenames are never used as paths; uploads stored under UUID names; traversal like ../../x is neutralized before anything touches disk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5478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50215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privacy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text is never written to logs — events carry IDs, codes and timings only; verified in the release secret-scan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44074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43616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text is a switch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STORE_RAW_TEXT=true (needed for evidence highlighting) can be turned off to keep only metadata; temp files cleaned on a 24-hour policy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52669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522122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 mode is opt-in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default binds localhost; the LAN launcher exposes the app without auth — documented, trusted-networks-only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review: docs/SECURITY.md · phase 8 secret-scan and evidence checks passed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end to end, not just unit-tested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186 pytest + 13 vitest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1568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19856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mismatches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19856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129 checks, browser + 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5936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11.9×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364224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speed-up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4224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52.8 vs 4.43 windows/s — RTX 2050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90304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6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 kB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308592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bundle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08592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gzipped production build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1274552" cy="0"/>
          </a:xfrm>
          <a:prstGeom prst="line">
            <a:avLst/>
          </a:prstGeom>
          <a:noFill/>
          <a:ln w="9525">
            <a:solidFill>
              <a:srgbClr val="DCE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96512"/>
            <a:ext cx="128016" cy="12801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77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E2E with the real model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22-step browser run: upload → analyze → verify; 0 page errors, clean console.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27648" y="4096512"/>
            <a:ext cx="128016" cy="12801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3977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reviewed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traversal-safe filenames, type/size validation, uploads never executed, no secrets, contract text never logged.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128016" cy="12801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184648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modes designed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corrupt / encrypted / scanned files rejected with typed errors; CUDA OOM contained; stale analyses recovered.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5303520"/>
            <a:ext cx="128016" cy="128016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5184648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by construction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from any folder (spaces included); 150-file scan: no hardcoded paths.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phase8_final_qa.md · phase3_gpu_benchmark.md (project reports)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files, real analysis — not slides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118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9339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2FA0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933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2514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01_saas_subscription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312724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friendly terms — the orb stays small; cap on liability and insurance are found, almost nothing fires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9339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C996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933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05_consulting_services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12724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auto-renewal is flagged (+10) and the soft non-compete shows how wording rules work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6118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D1A1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99339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9933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514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09_franchise_agreement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312724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non-compete, exclusivity, auto-renewal, no convenience exit — the orb climbs as rules stack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folder ships with the project:  </a:t>
            </a:r>
            <a:pPr indent="0" marL="0">
              <a:buNone/>
            </a:pPr>
            <a:r>
              <a:rPr lang="en-US" sz="125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demo_contracts/ — 22 agreements across SaaS, leases, franchises, joint ventures, GDPR DPAs and more, in LOW / MEDIUM / HIGH flavors, with PDF samples for the PDF pipeline. Nothing is uploaded until you drag it 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4552" cy="658368"/>
          </a:xfrm>
          <a:prstGeom prst="roundRect">
            <a:avLst>
              <a:gd name="adj" fmla="val 9722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you will see is computed live on this laptop — the model, the rules and the data all stay on this machine.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ASSESSMENT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can't do yet — and what comes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LIMITATIONS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48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Single-user, local only — no authentication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118872" cy="1188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807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Synchronous analysis — the UI waits (no queue)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584448"/>
            <a:ext cx="118872" cy="1188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46557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rules are heuristics, not learned from outcomes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42816"/>
            <a:ext cx="118872" cy="1188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1239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Scanned PDFs need OCR — not implemented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901184"/>
            <a:ext cx="118872" cy="1188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7823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Parties extraction is weak on multi-entity spans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7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267712"/>
            <a:ext cx="118872" cy="118872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148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job queue with live progress streaming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2926080"/>
            <a:ext cx="118872" cy="118872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807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pipeline for scanned contracts (Tesseract)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3584448"/>
            <a:ext cx="118872" cy="118872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346557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risk model on top of extracted clauses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4242816"/>
            <a:ext cx="118872" cy="118872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41239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more of the 41 CUAD clause types (flag-flip)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901184"/>
            <a:ext cx="118872" cy="118872"/>
          </a:xfrm>
          <a:prstGeom prst="ellipse">
            <a:avLst/>
          </a:prstGeom>
          <a:solidFill>
            <a:srgbClr val="0E6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47823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multi-user mode for small teams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562356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E9F3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623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6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limitation above is documented in the project reports — the system never hides uncertainty.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A0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finding traceable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0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its source text.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75488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recall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98064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16352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38928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157216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types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9792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498080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20656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838944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&amp; private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B3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ContractIQ — AI-assisted analysis. Results should be reviewed by a qualified professional. Not legal advice.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E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ContractIQ — AI Contract Intelligence &amp; Risk Analysis</dc:title>
  <dc:subject>PptxGenJS Presentation</dc:subject>
  <dc:creator>ContractIQ</dc:creator>
  <cp:lastModifiedBy>ContractIQ</cp:lastModifiedBy>
  <cp:revision>1</cp:revision>
  <dcterms:created xsi:type="dcterms:W3CDTF">2026-09-26T18:06:24Z</dcterms:created>
  <dcterms:modified xsi:type="dcterms:W3CDTF">2026-09-26T18:06:24Z</dcterms:modified>
</cp:coreProperties>
</file>